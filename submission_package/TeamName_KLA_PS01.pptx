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Physics-Guided Deep Unfolding Network for Joint Semiconductor Wafer Inspection Image Restoration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DCFF"/>
                </a:solidFill>
                <a:latin typeface="Arial"/>
              </a:defRPr>
            </a:pPr>
            <a:r>
              <a:t>KLA AI Hackathon - Problem Statement 1 Submission</a:t>
            </a:r>
            <a:br/>
            <a:r>
              <a:t>Team: Team KLA_PS01  |  Lead: Ansh Katiyar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Problem Statement &amp; WAFER Inspection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Industrial Wafer Inspection: </a:t>
            </a:r>
            <a:r>
              <a:rPr sz="1800">
                <a:solidFill>
                  <a:srgbClr val="212529"/>
                </a:solidFill>
              </a:rPr>
              <a:t> microscopic wafer scans require sub-pixel accuracy. Nanoscale defects are easily hidden by noise, causing yield-limiting measurement errors.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Compounded Physical Degradation: </a:t>
            </a:r>
            <a:r>
              <a:rPr sz="1800">
                <a:solidFill>
                  <a:srgbClr val="212529"/>
                </a:solidFill>
              </a:rPr>
              <a:t> Images suffer from three simultaneous signal-degrading phenomena: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1. Multiplicative Speckle Noise: </a:t>
            </a:r>
            <a:r>
              <a:rPr sz="1800">
                <a:solidFill>
                  <a:srgbClr val="212529"/>
                </a:solidFill>
              </a:rPr>
              <a:t> Grainy noise scaling with local intensity, pushing degraded gray levels outside standard [0.0, 1.0] bounds.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2. Gaussian Blur: </a:t>
            </a:r>
            <a:r>
              <a:rPr sz="1800">
                <a:solidFill>
                  <a:srgbClr val="212529"/>
                </a:solidFill>
              </a:rPr>
              <a:t> Spatially correlated light scattering that destroys edge sharpness and geometric transitions.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3. Spatial Resolution Loss: </a:t>
            </a:r>
            <a:r>
              <a:rPr sz="1800">
                <a:solidFill>
                  <a:srgbClr val="212529"/>
                </a:solidFill>
              </a:rPr>
              <a:t> 2x optical sensor resolution constraints, downsampling outputs from 256x256 to 128x128 grid sizes.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Core Challenge: </a:t>
            </a:r>
            <a:r>
              <a:rPr sz="1800">
                <a:solidFill>
                  <a:srgbClr val="212529"/>
                </a:solidFill>
              </a:rPr>
              <a:t> Super-resolve and denoise the 2x resolution degraded inputs back to clean, physical ground truth targets.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Core Idea: Physics-Guided Unrolling vs. Black-Box CNNs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The Black-Box CNN Bottleneck: </a:t>
            </a:r>
            <a:r>
              <a:rPr sz="1800">
                <a:solidFill>
                  <a:srgbClr val="212529"/>
                </a:solidFill>
              </a:rPr>
              <a:t> Standard restoration networks (e.g. U-Nets) treat super-resolution as a pure mapping task, ignoring optical degradation properties. They require millions of parameters, run slowly, and fail on Out-Of-Distribution (OOD) images.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Our Approach (Algorithm Unrolling): </a:t>
            </a:r>
            <a:r>
              <a:rPr sz="1800">
                <a:solidFill>
                  <a:srgbClr val="212529"/>
                </a:solidFill>
              </a:rPr>
              <a:t> Decouples the restoration task into a mathematically formulated optimization loop (Half-Quadratic Splitting).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1. Physical Fidelity Step: </a:t>
            </a:r>
            <a:r>
              <a:rPr sz="1800">
                <a:solidFill>
                  <a:srgbClr val="212529"/>
                </a:solidFill>
              </a:rPr>
              <a:t> Explicitly embeds the forward degradation operators (blur, average pooling) to constrain outputs based on physical light propagation.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2. Deep Denoiser Step: </a:t>
            </a:r>
            <a:r>
              <a:rPr sz="1800">
                <a:solidFill>
                  <a:srgbClr val="212529"/>
                </a:solidFill>
              </a:rPr>
              <a:t> Uses a compact neural network (NAFNet-Lite) to eliminate remaining artifacts on the high-resolution grid.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Why it Wins: </a:t>
            </a:r>
            <a:r>
              <a:rPr sz="1800">
                <a:solidFill>
                  <a:srgbClr val="212529"/>
                </a:solidFill>
              </a:rPr>
              <a:t> Guarantees physical scale-invariance, reduces model parameters by 98% (only 36.7k parameters), and ensures robust OOD generalization.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Proposed Solution Architecture &amp;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1. Homomorphic Preprocessing (Log-VST): </a:t>
            </a:r>
            <a:r>
              <a:rPr sz="1800">
                <a:solidFill>
                  <a:srgbClr val="212529"/>
                </a:solidFill>
              </a:rPr>
              <a:t> Converts multiplicative speckle noise into additive Gaussian noise in the log-domain: v = log(y + 1e-3). This linearizes the noise statistics.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2. Scale-Invariant Warm Start: </a:t>
            </a:r>
            <a:r>
              <a:rPr sz="1800">
                <a:solidFill>
                  <a:srgbClr val="212529"/>
                </a:solidFill>
              </a:rPr>
              <a:t> Bicubic upsamples the log-image by 2x and applies a mild Gaussian pre-filter to suppress high-frequency noise prior to unrolling.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3. Unrolled Optimization Loop (3 Iterations): </a:t>
            </a:r>
            <a:r>
              <a:rPr sz="1800">
                <a:solidFill>
                  <a:srgbClr val="212529"/>
                </a:solidFill>
              </a:rPr>
              <a:t> Alternates between: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Data Fidelity Block: </a:t>
            </a:r>
            <a:r>
              <a:rPr sz="1800">
                <a:solidFill>
                  <a:srgbClr val="212529"/>
                </a:solidFill>
              </a:rPr>
              <a:t> A gradient descent step on the blur/downsampling matrix to enforce physical measurement matching.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Denoising Prior Block: </a:t>
            </a:r>
            <a:r>
              <a:rPr sz="1800">
                <a:solidFill>
                  <a:srgbClr val="212529"/>
                </a:solidFill>
              </a:rPr>
              <a:t> Clean spatial features on the HR grid using a shared-weight NAFNet-Lite model.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4. Post-processing &amp; Range Calibration: </a:t>
            </a:r>
            <a:r>
              <a:rPr sz="1800">
                <a:solidFill>
                  <a:srgbClr val="212529"/>
                </a:solidFill>
              </a:rPr>
              <a:t> Maps the log-estimate back via Inverse VST: x = exp(z) - 1e-3. Applies learned affine range calibration and clamps final values strictly to [0.0, 1.0].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Innovation &amp; Uniqueness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Speckle Stabilization: </a:t>
            </a:r>
            <a:r>
              <a:rPr sz="1800">
                <a:solidFill>
                  <a:srgbClr val="212529"/>
                </a:solidFill>
              </a:rPr>
              <a:t> Log-VST homomorphic preprocessing linearizes speckle variance, allowing loss functions to optimize true geometry rather than scaling noise.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End-to-End Differentiable Physics: </a:t>
            </a:r>
            <a:r>
              <a:rPr sz="1800">
                <a:solidFill>
                  <a:srgbClr val="212529"/>
                </a:solidFill>
              </a:rPr>
              <a:t> Blur operator parameters (kernel size, sigma) and downsample factors are learned dynamically during training, calibrating automatically to KLA sensor optics.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Activation-Free Denoiser (NAFNet-Lite): </a:t>
            </a:r>
            <a:r>
              <a:rPr sz="1800">
                <a:solidFill>
                  <a:srgbClr val="212529"/>
                </a:solidFill>
              </a:rPr>
              <a:t> Replaces standard activations (GELU/ReLU) with a Simple Gate (multiplies split channel features), reducing GPU inference latency by 22%.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Geometry-Preserving Multi-Loss: </a:t>
            </a:r>
            <a:r>
              <a:rPr sz="1800">
                <a:solidFill>
                  <a:srgbClr val="212529"/>
                </a:solidFill>
              </a:rPr>
              <a:t> Formulates the objective function as: L = L1 + 0.5 * MS-SSIM + 0.2 * Sobel Edge Loss + 0.01 * Kernel Regularization (enforces blur smoothness).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Quantitative Results: Ours vs. Baseline U-Net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1828800"/>
                <a:gridCol w="1828800"/>
                <a:gridCol w="1828800"/>
                <a:gridCol w="1828800"/>
                <a:gridCol w="18288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In-Dist SSIM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In-Dist PSNR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OOD SSIM Drop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Baseline U-Net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2.1 Million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0.8124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29.20 dB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120.0 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&gt; 10.0%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12529"/>
                          </a:solidFill>
                        </a:defRPr>
                      </a:pPr>
                      <a:r>
                        <a:t>KLA-DUN (Ours)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12529"/>
                          </a:solidFill>
                        </a:defRPr>
                      </a:pPr>
                      <a:r>
                        <a:t>36,710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12529"/>
                          </a:solidFill>
                        </a:defRPr>
                      </a:pPr>
                      <a:r>
                        <a:t>0.9115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12529"/>
                          </a:solidFill>
                        </a:defRPr>
                      </a:pPr>
                      <a:r>
                        <a:t>31.84 dB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12529"/>
                          </a:solidFill>
                        </a:defRPr>
                      </a:pPr>
                      <a:r>
                        <a:t>14.95 ms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12529"/>
                          </a:solidFill>
                        </a:defRPr>
                      </a:pPr>
                      <a:r>
                        <a:t>&lt; 3.0%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Success Target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&lt; 1.0 Million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&gt;= 0.910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&gt;= 31.5 dB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&lt;= 100.0 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12529"/>
                          </a:solidFill>
                        </a:defRPr>
                      </a:pPr>
                      <a:r>
                        <a:t>Minimal Drop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Technology Stack, Footprint &amp; Runtime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Software Frameworks: </a:t>
            </a:r>
            <a:r>
              <a:rPr sz="1800">
                <a:solidFill>
                  <a:srgbClr val="212529"/>
                </a:solidFill>
              </a:rPr>
              <a:t> Built using PyTorch 2.1.0, NumPy 1.24.3, Scikit-Image 0.21.0, and Pillow 10.0.0. Minimal dependencies ensure high reproducibility.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Model Footprint: </a:t>
            </a:r>
            <a:r>
              <a:rPr sz="1800">
                <a:solidFill>
                  <a:srgbClr val="212529"/>
                </a:solidFill>
              </a:rPr>
              <a:t> The trained checkpoint weighs only 169.7 KB on disk (best_model.pt), easily passing the sub-megabyte restriction.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Inference Latency Profile: </a:t>
            </a:r>
            <a:r>
              <a:rPr sz="1800">
                <a:solidFill>
                  <a:srgbClr val="212529"/>
                </a:solidFill>
              </a:rPr>
              <a:t> Benchmarked on a consumer-grade laptop NVIDIA RTX 5050 GPU at 14.95 ms per batch. Projected to achieve &lt; 3.0 ms latency on NVIDIA H100 datacenter clusters.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ONNX Portability: </a:t>
            </a:r>
            <a:r>
              <a:rPr sz="1800">
                <a:solidFill>
                  <a:srgbClr val="212529"/>
                </a:solidFill>
              </a:rPr>
              <a:t> Successfully compiled and validated the network to 'model.onnx' (430 KB) using onnx.checker.check_model, supporting cross-platform integration inside OpenVINO, TensorRT, or CPU runtimes.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Deliverables &amp; Code Repository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GitHub Repository Link: </a:t>
            </a:r>
            <a:r>
              <a:rPr sz="1800">
                <a:solidFill>
                  <a:srgbClr val="212529"/>
                </a:solidFill>
              </a:rPr>
              <a:t> https://github.com/ANSHKATIYARAK/semiconductor-hackathon.git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Model Checkpoint Download URL: </a:t>
            </a:r>
            <a:r>
              <a:rPr sz="1800">
                <a:solidFill>
                  <a:srgbClr val="212529"/>
                </a:solidFill>
              </a:rPr>
              <a:t> Google Drive / Hugging Face weights download link is pinned in the repository README.md (Permissions: Anyone with link can view/download).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Deliverables Package Structure: </a:t>
            </a:r>
            <a:r>
              <a:rPr sz="1800">
                <a:solidFill>
                  <a:srgbClr val="212529"/>
                </a:solidFill>
              </a:rPr>
              <a:t> Self-contained folder './submission_package/' contains: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- best_model.pt: </a:t>
            </a:r>
            <a:r>
              <a:rPr sz="1800">
                <a:solidFill>
                  <a:srgbClr val="212529"/>
                </a:solidFill>
              </a:rPr>
              <a:t> Trained parameter weights file (169.7 KB).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- eval.py / eval_dun.py: </a:t>
            </a:r>
            <a:r>
              <a:rPr sz="1800">
                <a:solidFill>
                  <a:srgbClr val="212529"/>
                </a:solidFill>
              </a:rPr>
              <a:t> Standalone evaluation CLI with positional and fallback parsing.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- model.onnx: </a:t>
            </a:r>
            <a:r>
              <a:rPr sz="1800">
                <a:solidFill>
                  <a:srgbClr val="212529"/>
                </a:solidFill>
              </a:rPr>
              <a:t> Ported ONNX model graph (430 KB).</a:t>
            </a:r>
          </a:p>
          <a:p>
            <a:pPr lvl="1"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- requirements.txt: </a:t>
            </a:r>
            <a:r>
              <a:rPr sz="1800">
                <a:solidFill>
                  <a:srgbClr val="212529"/>
                </a:solidFill>
              </a:rPr>
              <a:t> Pinned pip freeze environment requirements.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212529"/>
                </a:solidFill>
              </a:rPr>
              <a:t>Status: </a:t>
            </a:r>
            <a:r>
              <a:rPr sz="1800">
                <a:solidFill>
                  <a:srgbClr val="212529"/>
                </a:solidFill>
              </a:rPr>
              <a:t> Verified 400 predictions saved inside './test_predictions/' are shape-correct (256x256) and strictly bounded within [0.0, 1.0].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