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914400" cy="914400"/>
          </a:xfrm>
          <a:prstGeom prst="roundRect">
            <a:avLst/>
          </a:prstGeom>
          <a:solidFill>
            <a:srgbClr val="9D4EDD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2800" b="1">
                <a:solidFill>
                  <a:srgbClr val="F0F6FC"/>
                </a:solidFill>
                <a:latin typeface="Segoe UI"/>
              </a:defRPr>
            </a:pPr>
            <a:r>
              <a:t>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914400"/>
            <a:ext cx="95097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0F6FC"/>
                </a:solidFill>
                <a:latin typeface="Segoe UI"/>
              </a:defRPr>
            </a:pPr>
            <a:r>
              <a:t>Physics-Guided Deep Unfolding Network</a:t>
            </a:r>
          </a:p>
          <a:p>
            <a:pPr>
              <a:spcBef>
                <a:spcPts val="400"/>
              </a:spcBef>
              <a:defRPr sz="1800" b="1">
                <a:solidFill>
                  <a:srgbClr val="00F5D4"/>
                </a:solidFill>
                <a:latin typeface="Segoe UI"/>
              </a:defRPr>
            </a:pPr>
            <a:r>
              <a:t>Joint Image Restoration &amp; Super-Resolution for Semiconductor Wafer Inspection</a:t>
            </a:r>
          </a:p>
          <a:p>
            <a:pPr>
              <a:spcBef>
                <a:spcPts val="400"/>
              </a:spcBef>
              <a:defRPr sz="1300">
                <a:solidFill>
                  <a:srgbClr val="8B949E"/>
                </a:solidFill>
                <a:latin typeface="Segoe UI"/>
              </a:defRPr>
            </a:pPr>
            <a:r>
              <a:t>Challenge Track: Problem Statement 01 (KLA SEMICON India 2026)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10698480" cy="29260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800"/>
              </a:spcAft>
              <a:defRPr sz="1300" b="1">
                <a:solidFill>
                  <a:srgbClr val="00F5D4"/>
                </a:solidFill>
                <a:latin typeface="Segoe UI"/>
              </a:defRPr>
            </a:pPr>
            <a:r>
              <a:t>TEAM REGISTRATION DETAILS</a:t>
            </a:r>
          </a:p>
          <a:p>
            <a:pPr>
              <a:spcAft>
                <a:spcPts val="1200"/>
              </a:spcAft>
              <a:defRPr sz="1500" b="1">
                <a:solidFill>
                  <a:srgbClr val="F0F6FC"/>
                </a:solidFill>
                <a:latin typeface="Segoe UI"/>
              </a:defRPr>
            </a:pPr>
            <a:r>
              <a:t>Team Name: Pixel Pioneers   |   Tagline: Restoring reality, one pixel at a time.</a:t>
            </a:r>
          </a:p>
          <a:p>
            <a:pPr>
              <a:spcAft>
                <a:spcPts val="600"/>
              </a:spcAft>
              <a:defRPr sz="1300">
                <a:solidFill>
                  <a:srgbClr val="F0F6FC"/>
                </a:solidFill>
                <a:latin typeface="Segoe UI"/>
              </a:defRPr>
            </a:pPr>
            <a:r>
              <a:t>• Lead: Ansh Katiyar (VIT Vellore) - anshkatiyar06@gmail.com | +91 8949513257</a:t>
            </a:r>
          </a:p>
          <a:p>
            <a:pPr>
              <a:spcAft>
                <a:spcPts val="600"/>
              </a:spcAft>
              <a:defRPr sz="1300">
                <a:solidFill>
                  <a:srgbClr val="F0F6FC"/>
                </a:solidFill>
                <a:latin typeface="Segoe UI"/>
              </a:defRPr>
            </a:pPr>
            <a:r>
              <a:t>• Member 2: Abhinav Yadav - abhi1012006@gmail.com | +91 9235881010</a:t>
            </a:r>
          </a:p>
          <a:p>
            <a:pPr>
              <a:defRPr sz="1300">
                <a:solidFill>
                  <a:srgbClr val="F0F6FC"/>
                </a:solidFill>
                <a:latin typeface="Segoe UI"/>
              </a:defRPr>
            </a:pPr>
            <a:r>
              <a:t>• Member 3: Akarsh Gupta - akarsh.gupta2025@vitstudent.ac.in | +91 7081610062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Segoe UI"/>
              </a:defRPr>
            </a:pPr>
            <a:r>
              <a:t>KLA AI HACKATHON 2026 | PROBLEM STATEMENT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0F6FC"/>
                </a:solidFill>
                <a:latin typeface="Segoe UI"/>
              </a:defRPr>
            </a:pPr>
            <a:r>
              <a:t>Problem Statement &amp; Semiconductor Inspection Challenges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365760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1200"/>
              </a:spcAft>
              <a:defRPr sz="1400" b="1">
                <a:solidFill>
                  <a:srgbClr val="9D4EDD"/>
                </a:solidFill>
                <a:latin typeface="Segoe UI"/>
              </a:defRPr>
            </a:pPr>
            <a:r>
              <a:t>1. Multiplicative Speckle Noise</a:t>
            </a:r>
          </a:p>
          <a:p>
            <a:pPr>
              <a:lnSpc>
                <a:spcPct val="115000"/>
              </a:lnSpc>
              <a:defRPr sz="1200">
                <a:solidFill>
                  <a:srgbClr val="F0F6FC"/>
                </a:solidFill>
                <a:latin typeface="Segoe UI"/>
              </a:defRPr>
            </a:pPr>
            <a:r>
              <a:t>• Signal-dependent noise statistics scaling with intensity.</a:t>
            </a:r>
            <a:br/>
            <a:r>
              <a:t>• Pushes pixel intensities outside nominal [0.0, 1.0] bounds.</a:t>
            </a:r>
            <a:br/>
            <a:r>
              <a:t>• Causes thresholding errors in defect metrology.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554480"/>
            <a:ext cx="3328416" cy="365760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1200"/>
              </a:spcAft>
              <a:defRPr sz="1400" b="1">
                <a:solidFill>
                  <a:srgbClr val="00F5D4"/>
                </a:solidFill>
                <a:latin typeface="Segoe UI"/>
              </a:defRPr>
            </a:pPr>
            <a:r>
              <a:t>2. Optical Gaussian Blur</a:t>
            </a:r>
          </a:p>
          <a:p>
            <a:pPr>
              <a:lnSpc>
                <a:spcPct val="115000"/>
              </a:lnSpc>
              <a:defRPr sz="1200">
                <a:solidFill>
                  <a:srgbClr val="F0F6FC"/>
                </a:solidFill>
                <a:latin typeface="Segoe UI"/>
              </a:defRPr>
            </a:pPr>
            <a:r>
              <a:t>• Light diffraction and point-spread scatter.</a:t>
            </a:r>
            <a:br/>
            <a:r>
              <a:t>• Destroys sub-micron edge sharpness.</a:t>
            </a:r>
            <a:br/>
            <a:r>
              <a:t>• Blurs critical structural boundaries on wafer 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3296" y="1554480"/>
            <a:ext cx="3328416" cy="365760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1200"/>
              </a:spcAft>
              <a:defRPr sz="1400" b="1">
                <a:solidFill>
                  <a:srgbClr val="3FB950"/>
                </a:solidFill>
                <a:latin typeface="Segoe UI"/>
              </a:defRPr>
            </a:pPr>
            <a:r>
              <a:t>3. 2x Spatial Resolution Loss</a:t>
            </a:r>
          </a:p>
          <a:p>
            <a:pPr>
              <a:lnSpc>
                <a:spcPct val="115000"/>
              </a:lnSpc>
              <a:defRPr sz="1200">
                <a:solidFill>
                  <a:srgbClr val="F0F6FC"/>
                </a:solidFill>
                <a:latin typeface="Segoe UI"/>
              </a:defRPr>
            </a:pPr>
            <a:r>
              <a:t>• Physical optical downsampling (256x256 → 128x128).</a:t>
            </a:r>
            <a:br/>
            <a:r>
              <a:t>• Nanoscale patterns drop below Nyquist sampling limit.</a:t>
            </a:r>
            <a:br/>
            <a:r>
              <a:t>• High-frequency defect geometries are lost.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10698480" cy="100584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250" b="1">
                <a:solidFill>
                  <a:srgbClr val="F0F6FC"/>
                </a:solidFill>
                <a:latin typeface="Segoe UI"/>
              </a:defRPr>
            </a:pPr>
            <a:r>
              <a:t>CORE OBJECTIVE: Jointly denoise, deblur, and super-resolve 2x degraded images back to ground truth fidelity without hallucinating artificial defects on unseen wafer layouts.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Segoe UI"/>
              </a:defRPr>
            </a:pPr>
            <a:r>
              <a:t>KLA AI HACKATHON 2026 | PROBLEM STATEMENT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0F6FC"/>
                </a:solidFill>
                <a:latin typeface="Segoe UI"/>
              </a:defRPr>
            </a:pPr>
            <a:r>
              <a:t>Core Idea: Physics-Guided Unrolling vs. Black-Box CNNs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47548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1200"/>
              </a:spcAft>
              <a:defRPr sz="1400" b="1">
                <a:solidFill>
                  <a:srgbClr val="FF6464"/>
                </a:solidFill>
                <a:latin typeface="Segoe UI"/>
              </a:defRPr>
            </a:pPr>
            <a:r>
              <a:t>THE BLACK-BOX CNN BOTTLENECK</a:t>
            </a:r>
          </a:p>
          <a:p>
            <a:pPr>
              <a:spcAft>
                <a:spcPts val="1000"/>
              </a:spcAft>
              <a:defRPr sz="1200">
                <a:solidFill>
                  <a:srgbClr val="F0F6FC"/>
                </a:solidFill>
                <a:latin typeface="Segoe UI"/>
              </a:defRPr>
            </a:pPr>
            <a:r>
              <a:t>• Ignores Physical Optics: Treats super-resolution as naive statistical interpolation.</a:t>
            </a:r>
          </a:p>
          <a:p>
            <a:pPr>
              <a:spcAft>
                <a:spcPts val="1000"/>
              </a:spcAft>
              <a:defRPr sz="1200">
                <a:solidFill>
                  <a:srgbClr val="F0F6FC"/>
                </a:solidFill>
                <a:latin typeface="Segoe UI"/>
              </a:defRPr>
            </a:pPr>
            <a:r>
              <a:t>• Hallucinates Non-Existent Patterns: Fabricates fake structural defects on novel layouts.</a:t>
            </a:r>
          </a:p>
          <a:p>
            <a:pPr>
              <a:spcAft>
                <a:spcPts val="1000"/>
              </a:spcAft>
              <a:defRPr sz="1200">
                <a:solidFill>
                  <a:srgbClr val="F0F6FC"/>
                </a:solidFill>
                <a:latin typeface="Segoe UI"/>
              </a:defRPr>
            </a:pPr>
            <a:r>
              <a:t>• Parameter Bloat: Heavy U-Nets / ViTs require 2M to 15M parameters.</a:t>
            </a:r>
          </a:p>
          <a:p>
            <a:pPr>
              <a:spcAft>
                <a:spcPts val="1000"/>
              </a:spcAft>
              <a:defRPr sz="1200">
                <a:solidFill>
                  <a:srgbClr val="F0F6FC"/>
                </a:solidFill>
                <a:latin typeface="Segoe UI"/>
              </a:defRPr>
            </a:pPr>
            <a:r>
              <a:t>• OOD Brittleness: Severe performance drops (&gt;10% SSIM degradation) on novel wafer test samples.</a:t>
            </a:r>
          </a:p>
          <a:p>
            <a:pPr>
              <a:spcAft>
                <a:spcPts val="1000"/>
              </a:spcAft>
              <a:defRPr sz="1200">
                <a:solidFill>
                  <a:srgbClr val="F0F6FC"/>
                </a:solidFill>
                <a:latin typeface="Segoe UI"/>
              </a:defRPr>
            </a:pPr>
            <a:r>
              <a:t>• High Latency: Exceeds edge inspection runtime budgets (&gt;100ms per image).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496" y="1554480"/>
            <a:ext cx="5175504" cy="47548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1200"/>
              </a:spcAft>
              <a:defRPr sz="1400" b="1">
                <a:solidFill>
                  <a:srgbClr val="00F5D4"/>
                </a:solidFill>
                <a:latin typeface="Segoe UI"/>
              </a:defRPr>
            </a:pPr>
            <a:r>
              <a:t>OUR APPROACH: ALGORITHM UNROLLING (HQS)</a:t>
            </a:r>
          </a:p>
          <a:p>
            <a:pPr>
              <a:spcAft>
                <a:spcPts val="1000"/>
              </a:spcAft>
              <a:defRPr sz="1200">
                <a:solidFill>
                  <a:srgbClr val="F0F6FC"/>
                </a:solidFill>
                <a:latin typeface="Segoe UI"/>
              </a:defRPr>
            </a:pPr>
            <a:r>
              <a:t>• Half-Quadratic Splitting (HQS): Decouples restoration into a physical Data Fidelity step and a Deep Prior step.</a:t>
            </a:r>
          </a:p>
          <a:p>
            <a:pPr>
              <a:spcAft>
                <a:spcPts val="1000"/>
              </a:spcAft>
              <a:defRPr sz="1200">
                <a:solidFill>
                  <a:srgbClr val="F0F6FC"/>
                </a:solidFill>
                <a:latin typeface="Segoe UI"/>
              </a:defRPr>
            </a:pPr>
            <a:r>
              <a:t>• Physical Consistency: Embeds differentiable blur (A) and downsampling (D) operators directly into network graph: D(A(x)) ≈ y.</a:t>
            </a:r>
          </a:p>
          <a:p>
            <a:pPr>
              <a:spcAft>
                <a:spcPts val="1000"/>
              </a:spcAft>
              <a:defRPr sz="1200">
                <a:solidFill>
                  <a:srgbClr val="F0F6FC"/>
                </a:solidFill>
                <a:latin typeface="Segoe UI"/>
              </a:defRPr>
            </a:pPr>
            <a:r>
              <a:t>• 98% Parameter Reduction: Compact 36.7k parameter footprint (~170 KB weights file).</a:t>
            </a:r>
          </a:p>
          <a:p>
            <a:pPr>
              <a:spcAft>
                <a:spcPts val="1000"/>
              </a:spcAft>
              <a:defRPr sz="1200">
                <a:solidFill>
                  <a:srgbClr val="F0F6FC"/>
                </a:solidFill>
                <a:latin typeface="Segoe UI"/>
              </a:defRPr>
            </a:pPr>
            <a:r>
              <a:t>• Zero Hallucinations: Physics-bounded gradients prevent false pattern formation.</a:t>
            </a:r>
          </a:p>
          <a:p>
            <a:pPr>
              <a:spcAft>
                <a:spcPts val="1000"/>
              </a:spcAft>
              <a:defRPr sz="1200">
                <a:solidFill>
                  <a:srgbClr val="F0F6FC"/>
                </a:solidFill>
                <a:latin typeface="Segoe UI"/>
              </a:defRPr>
            </a:pPr>
            <a:r>
              <a:t>• Real-Time Edge Speed: Achieves 14.95 ms on RTX 5050 and &lt; 3.0 ms on NVIDIA H100.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Segoe UI"/>
              </a:defRPr>
            </a:pPr>
            <a:r>
              <a:t>KLA AI HACKATHON 2026 | PROBLEM STATEMENT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0F6FC"/>
                </a:solidFill>
                <a:latin typeface="Segoe UI"/>
              </a:defRPr>
            </a:pPr>
            <a:r>
              <a:t>Proposed Architecture &amp; End-to-End Pipeline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42032" cy="47548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200"/>
              </a:spcAft>
              <a:defRPr sz="1300" b="1">
                <a:solidFill>
                  <a:srgbClr val="9D4EDD"/>
                </a:solidFill>
                <a:latin typeface="Segoe UI"/>
              </a:defRPr>
            </a:pPr>
            <a:r>
              <a:t>Step 1: Homomorphic Log-VST</a:t>
            </a:r>
          </a:p>
          <a:p>
            <a:pPr>
              <a:lnSpc>
                <a:spcPct val="115000"/>
              </a:lnSpc>
              <a:defRPr sz="1100">
                <a:solidFill>
                  <a:srgbClr val="F0F6FC"/>
                </a:solidFill>
                <a:latin typeface="Segoe UI"/>
              </a:defRPr>
            </a:pPr>
            <a:r>
              <a:t>v = log(y + 1e-3)</a:t>
            </a:r>
            <a:br/>
            <a:br/>
            <a:r>
              <a:t>Converts multiplicative speckle into additive Gaussian noise in the log-domain. Stabilizes signal-dependent noise variance before deep learning processing.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554480"/>
            <a:ext cx="2542032" cy="47548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200"/>
              </a:spcAft>
              <a:defRPr sz="1300" b="1">
                <a:solidFill>
                  <a:srgbClr val="00F5D4"/>
                </a:solidFill>
                <a:latin typeface="Segoe UI"/>
              </a:defRPr>
            </a:pPr>
            <a:r>
              <a:t>Step 2: Scale-Invariant Warm Start</a:t>
            </a:r>
          </a:p>
          <a:p>
            <a:pPr>
              <a:lnSpc>
                <a:spcPct val="115000"/>
              </a:lnSpc>
              <a:defRPr sz="1100">
                <a:solidFill>
                  <a:srgbClr val="F0F6FC"/>
                </a:solidFill>
                <a:latin typeface="Segoe UI"/>
              </a:defRPr>
            </a:pPr>
            <a:r>
              <a:t>x_0 = GaussianFilter(Bicubic(v, 2x))</a:t>
            </a:r>
            <a:br/>
            <a:br/>
            <a:r>
              <a:t>Dynamically scales 128x128 input up to 256x256 high-resolution grid. Suppresses high-frequency speckle before unrolled iterations.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554480"/>
            <a:ext cx="2542032" cy="47548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200"/>
              </a:spcAft>
              <a:defRPr sz="1300" b="1">
                <a:solidFill>
                  <a:srgbClr val="3FB950"/>
                </a:solidFill>
                <a:latin typeface="Segoe UI"/>
              </a:defRPr>
            </a:pPr>
            <a:r>
              <a:t>Step 3: Unrolled HQS Loop (N=3)</a:t>
            </a:r>
          </a:p>
          <a:p>
            <a:pPr>
              <a:lnSpc>
                <a:spcPct val="115000"/>
              </a:lnSpc>
              <a:defRPr sz="1100">
                <a:solidFill>
                  <a:srgbClr val="F0F6FC"/>
                </a:solidFill>
                <a:latin typeface="Segoe UI"/>
              </a:defRPr>
            </a:pPr>
            <a:r>
              <a:t>Alternates between:</a:t>
            </a:r>
            <a:br/>
            <a:r>
              <a:t>1. Data Fidelity Block (Physical gradient step on blur/downsample operators)</a:t>
            </a:r>
            <a:br/>
            <a:r>
              <a:t>2. Denoising Prior Block (Shared-weight NAFNet-Lite denoiser).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554480"/>
            <a:ext cx="2542032" cy="47548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1200"/>
              </a:spcAft>
              <a:defRPr sz="1300" b="1">
                <a:solidFill>
                  <a:srgbClr val="F0F6FC"/>
                </a:solidFill>
                <a:latin typeface="Segoe UI"/>
              </a:defRPr>
            </a:pPr>
            <a:r>
              <a:t>Step 4: Inverse VST &amp; Calibration</a:t>
            </a:r>
          </a:p>
          <a:p>
            <a:pPr>
              <a:lnSpc>
                <a:spcPct val="115000"/>
              </a:lnSpc>
              <a:defRPr sz="1100">
                <a:solidFill>
                  <a:srgbClr val="F0F6FC"/>
                </a:solidFill>
                <a:latin typeface="Segoe UI"/>
              </a:defRPr>
            </a:pPr>
            <a:r>
              <a:t>x_clean = exp(z_N) - 1e-3</a:t>
            </a:r>
            <a:br/>
            <a:br/>
            <a:r>
              <a:t>Applies learned affine calibration: x_out = alpha * x_clean + beta. Final outputs clamped strictly to valid [0.0, 1.0] intensity range.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Segoe UI"/>
              </a:defRPr>
            </a:pPr>
            <a:r>
              <a:t>KLA AI HACKATHON 2026 | PROBLEM STATEMENT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0F6FC"/>
                </a:solidFill>
                <a:latin typeface="Segoe UI"/>
              </a:defRPr>
            </a:pPr>
            <a:r>
              <a:t>Innovation &amp; Uniqueness: Core Differentiators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22402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9D4EDD"/>
                </a:solidFill>
                <a:latin typeface="Segoe UI"/>
              </a:defRPr>
            </a:pPr>
            <a:r>
              <a:t>1. Homomorphic Speckle Linearization</a:t>
            </a:r>
          </a:p>
          <a:p>
            <a:pPr>
              <a:lnSpc>
                <a:spcPct val="110000"/>
              </a:lnSpc>
              <a:defRPr sz="1100">
                <a:solidFill>
                  <a:srgbClr val="F0F6FC"/>
                </a:solidFill>
                <a:latin typeface="Segoe UI"/>
              </a:defRPr>
            </a:pPr>
            <a:r>
              <a:t>Multiplicative speckle noise is transformed via Log-VST. Denoising occurs on stabilized log-intensities, allowing loss functions to optimize structural wafer geometry rather than noise scales.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496" y="1554480"/>
            <a:ext cx="5175504" cy="22402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00F5D4"/>
                </a:solidFill>
                <a:latin typeface="Segoe UI"/>
              </a:defRPr>
            </a:pPr>
            <a:r>
              <a:t>2. Learnable Optical Operators</a:t>
            </a:r>
          </a:p>
          <a:p>
            <a:pPr>
              <a:lnSpc>
                <a:spcPct val="110000"/>
              </a:lnSpc>
              <a:defRPr sz="1100">
                <a:solidFill>
                  <a:srgbClr val="F0F6FC"/>
                </a:solidFill>
                <a:latin typeface="Segoe UI"/>
              </a:defRPr>
            </a:pPr>
            <a:r>
              <a:t>The Gaussian blur kernel (sigma, size) and downsampling operators are parameterized and optimized end-to-end via backpropagation, automatically tuning to KLA sensor optics.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69080"/>
            <a:ext cx="5175504" cy="22402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3FB950"/>
                </a:solidFill>
                <a:latin typeface="Segoe UI"/>
              </a:defRPr>
            </a:pPr>
            <a:r>
              <a:t>3. Activation-Free NAFNet-Lite Denoiser</a:t>
            </a:r>
          </a:p>
          <a:p>
            <a:pPr>
              <a:lnSpc>
                <a:spcPct val="110000"/>
              </a:lnSpc>
              <a:defRPr sz="1100">
                <a:solidFill>
                  <a:srgbClr val="F0F6FC"/>
                </a:solidFill>
                <a:latin typeface="Segoe UI"/>
              </a:defRPr>
            </a:pPr>
            <a:r>
              <a:t>Replaces non-linear activations (GELU/ReLU) with a Simple Gate (x_1 * x_2) and Simplified Channel Attention. Cuts GPU inference latency by 22% while using only 24 channels.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4069080"/>
            <a:ext cx="5175504" cy="22402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F0F6FC"/>
                </a:solidFill>
                <a:latin typeface="Segoe UI"/>
              </a:defRPr>
            </a:pPr>
            <a:r>
              <a:t>4. Geometry-Preserving Composite Loss</a:t>
            </a:r>
          </a:p>
          <a:p>
            <a:pPr>
              <a:lnSpc>
                <a:spcPct val="110000"/>
              </a:lnSpc>
              <a:defRPr sz="1100">
                <a:solidFill>
                  <a:srgbClr val="F0F6FC"/>
                </a:solidFill>
                <a:latin typeface="Segoe UI"/>
              </a:defRPr>
            </a:pPr>
            <a:r>
              <a:t>Multi-scale training objective:</a:t>
            </a:r>
            <a:br/>
            <a:r>
              <a:t>L_total = L1 + 0.5 * L_MS-SSIM + 0.2 * L_SobelEdge + 0.01 * L_KernelReg.</a:t>
            </a:r>
            <a:br/>
            <a:r>
              <a:t>Guarantees sharp edge transitions, structural fidelity, and physically smooth blur kernels.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Segoe UI"/>
              </a:defRPr>
            </a:pPr>
            <a:r>
              <a:t>KLA AI HACKATHON 2026 | PROBLEM STATEMENT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0F6FC"/>
                </a:solidFill>
                <a:latin typeface="Segoe UI"/>
              </a:defRPr>
            </a:pPr>
            <a:r>
              <a:t>Quantitative Results: Ours vs. Baseline &amp; Targets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188720"/>
                <a:gridCol w="1005840"/>
                <a:gridCol w="1005840"/>
                <a:gridCol w="1280160"/>
                <a:gridCol w="1371600"/>
                <a:gridCol w="1005840"/>
                <a:gridCol w="192024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F5D4"/>
                          </a:solidFill>
                          <a:latin typeface="Segoe UI"/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F5D4"/>
                          </a:solidFill>
                          <a:latin typeface="Segoe UI"/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F5D4"/>
                          </a:solidFill>
                          <a:latin typeface="Segoe UI"/>
                        </a:defRPr>
                      </a:pPr>
                      <a:r>
                        <a:t>In-Dist SSIM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F5D4"/>
                          </a:solidFill>
                          <a:latin typeface="Segoe UI"/>
                        </a:defRPr>
                      </a:pPr>
                      <a:r>
                        <a:t>In-Dist PSNR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F5D4"/>
                          </a:solidFill>
                          <a:latin typeface="Segoe UI"/>
                        </a:defRPr>
                      </a:pPr>
                      <a:r>
                        <a:t>RTX 5050 Latency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F5D4"/>
                          </a:solidFill>
                          <a:latin typeface="Segoe UI"/>
                        </a:defRPr>
                      </a:pPr>
                      <a:r>
                        <a:t>H100 Latency (Est.)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F5D4"/>
                          </a:solidFill>
                          <a:latin typeface="Segoe UI"/>
                        </a:defRPr>
                      </a:pPr>
                      <a:r>
                        <a:t>OOD Drop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F5D4"/>
                          </a:solidFill>
                          <a:latin typeface="Segoe UI"/>
                        </a:defRPr>
                      </a:pPr>
                      <a:r>
                        <a:t>Verification Status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Baseline U-Net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2.1 Million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0.8124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29.20 dB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120.0 ms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~18.0 ms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&gt; 10.0%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FB950"/>
                          </a:solidFill>
                          <a:latin typeface="Segoe UI"/>
                        </a:defRPr>
                      </a:pPr>
                      <a:r>
                        <a:t>Physics-DUN (Ours)</a:t>
                      </a:r>
                    </a:p>
                  </a:txBody>
                  <a:tcPr>
                    <a:solidFill>
                      <a:srgbClr val="102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FB950"/>
                          </a:solidFill>
                          <a:latin typeface="Segoe UI"/>
                        </a:defRPr>
                      </a:pPr>
                      <a:r>
                        <a:t>36,710 (~170 KB)</a:t>
                      </a:r>
                    </a:p>
                  </a:txBody>
                  <a:tcPr>
                    <a:solidFill>
                      <a:srgbClr val="102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FB950"/>
                          </a:solidFill>
                          <a:latin typeface="Segoe UI"/>
                        </a:defRPr>
                      </a:pPr>
                      <a:r>
                        <a:t>0.9115</a:t>
                      </a:r>
                    </a:p>
                  </a:txBody>
                  <a:tcPr>
                    <a:solidFill>
                      <a:srgbClr val="102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FB950"/>
                          </a:solidFill>
                          <a:latin typeface="Segoe UI"/>
                        </a:defRPr>
                      </a:pPr>
                      <a:r>
                        <a:t>31.84 dB</a:t>
                      </a:r>
                    </a:p>
                  </a:txBody>
                  <a:tcPr>
                    <a:solidFill>
                      <a:srgbClr val="102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FB950"/>
                          </a:solidFill>
                          <a:latin typeface="Segoe UI"/>
                        </a:defRPr>
                      </a:pPr>
                      <a:r>
                        <a:t>14.95 ms</a:t>
                      </a:r>
                    </a:p>
                  </a:txBody>
                  <a:tcPr>
                    <a:solidFill>
                      <a:srgbClr val="102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FB950"/>
                          </a:solidFill>
                          <a:latin typeface="Segoe UI"/>
                        </a:defRPr>
                      </a:pPr>
                      <a:r>
                        <a:t>&lt; 3.0 ms</a:t>
                      </a:r>
                    </a:p>
                  </a:txBody>
                  <a:tcPr>
                    <a:solidFill>
                      <a:srgbClr val="102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FB950"/>
                          </a:solidFill>
                          <a:latin typeface="Segoe UI"/>
                        </a:defRPr>
                      </a:pPr>
                      <a:r>
                        <a:t>&lt; 3.0%</a:t>
                      </a:r>
                    </a:p>
                  </a:txBody>
                  <a:tcPr>
                    <a:solidFill>
                      <a:srgbClr val="102A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FB950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102A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KLA Success Target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&lt; 1.0 Million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&gt;= 0.910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&gt;= 31.5 dB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&lt;= 100.0 ms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&lt;= 100.0 ms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Minimal Drop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0F6FC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151C2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931920"/>
            <a:ext cx="3328416" cy="237744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1200"/>
              </a:spcAft>
              <a:defRPr sz="1300" b="1">
                <a:solidFill>
                  <a:srgbClr val="3FB950"/>
                </a:solidFill>
                <a:latin typeface="Segoe UI"/>
              </a:defRPr>
            </a:pPr>
            <a:r>
              <a:t>SSIM &amp; PSNR Passed</a:t>
            </a:r>
          </a:p>
          <a:p>
            <a:pPr>
              <a:lnSpc>
                <a:spcPct val="115000"/>
              </a:lnSpc>
              <a:defRPr sz="1100">
                <a:solidFill>
                  <a:srgbClr val="F0F6FC"/>
                </a:solidFill>
                <a:latin typeface="Segoe UI"/>
              </a:defRPr>
            </a:pPr>
            <a:r>
              <a:t>SSIM 0.9115 (Target &gt;= 0.910)</a:t>
            </a:r>
            <a:br/>
            <a:r>
              <a:t>PSNR 31.84 dB (Target &gt;= 31.5 dB)</a:t>
            </a:r>
            <a:br/>
            <a:r>
              <a:t>High-fidelity sub-micron edge preservation.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3931920"/>
            <a:ext cx="3328416" cy="237744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1200"/>
              </a:spcAft>
              <a:defRPr sz="1300" b="1">
                <a:solidFill>
                  <a:srgbClr val="9D4EDD"/>
                </a:solidFill>
                <a:latin typeface="Segoe UI"/>
              </a:defRPr>
            </a:pPr>
            <a:r>
              <a:t>Ultra-Light Footprint</a:t>
            </a:r>
          </a:p>
          <a:p>
            <a:pPr>
              <a:lnSpc>
                <a:spcPct val="115000"/>
              </a:lnSpc>
              <a:defRPr sz="1100">
                <a:solidFill>
                  <a:srgbClr val="F0F6FC"/>
                </a:solidFill>
                <a:latin typeface="Segoe UI"/>
              </a:defRPr>
            </a:pPr>
            <a:r>
              <a:t>36,710 parameters</a:t>
            </a:r>
            <a:br/>
            <a:r>
              <a:t>169.7 KB checkpoint file on disk</a:t>
            </a:r>
            <a:br/>
            <a:r>
              <a:t>Consumes &lt;18% of 1.0 MB budget.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3931920"/>
            <a:ext cx="3328416" cy="237744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1200"/>
              </a:spcAft>
              <a:defRPr sz="1300" b="1">
                <a:solidFill>
                  <a:srgbClr val="00F5D4"/>
                </a:solidFill>
                <a:latin typeface="Segoe UI"/>
              </a:defRPr>
            </a:pPr>
            <a:r>
              <a:t>Real-Time Throughput</a:t>
            </a:r>
          </a:p>
          <a:p>
            <a:pPr>
              <a:lnSpc>
                <a:spcPct val="115000"/>
              </a:lnSpc>
              <a:defRPr sz="1100">
                <a:solidFill>
                  <a:srgbClr val="F0F6FC"/>
                </a:solidFill>
                <a:latin typeface="Segoe UI"/>
              </a:defRPr>
            </a:pPr>
            <a:r>
              <a:t>14.95 ms on laptop RTX 5050 GPU</a:t>
            </a:r>
            <a:br/>
            <a:r>
              <a:t>&lt; 3.0 ms projected on NVIDIA H100</a:t>
            </a:r>
            <a:br/>
            <a:r>
              <a:t>Zero execution bottlenecks.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Segoe UI"/>
              </a:defRPr>
            </a:pPr>
            <a:r>
              <a:t>KLA AI HACKATHON 2026 | PROBLEM STATEMENT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0F6FC"/>
                </a:solidFill>
                <a:latin typeface="Segoe UI"/>
              </a:defRPr>
            </a:pPr>
            <a:r>
              <a:t>Technology Stack, Edge Portability &amp; NVIDIA H100 Feasibility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22402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9D4EDD"/>
                </a:solidFill>
                <a:latin typeface="Segoe UI"/>
              </a:defRPr>
            </a:pPr>
            <a:r>
              <a:t>Software Framework &amp; Reproducibility</a:t>
            </a:r>
          </a:p>
          <a:p>
            <a:pPr>
              <a:lnSpc>
                <a:spcPct val="110000"/>
              </a:lnSpc>
              <a:defRPr sz="1100">
                <a:solidFill>
                  <a:srgbClr val="F0F6FC"/>
                </a:solidFill>
                <a:latin typeface="Segoe UI"/>
              </a:defRPr>
            </a:pPr>
            <a:r>
              <a:t>• Core Framework: PyTorch 2.1.0 (CUDA sm_120 compatibility verified).</a:t>
            </a:r>
            <a:br/>
            <a:r>
              <a:t>• Pinned Dependencies: NumPy 1.24.3, Scikit-Image 0.21.0, Pillow 10.0.0.</a:t>
            </a:r>
            <a:br/>
            <a:r>
              <a:t>• Platform Independent: Fully reproducible via clean pip freeze requirements.txt.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496" y="1554480"/>
            <a:ext cx="5175504" cy="22402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00F5D4"/>
                </a:solidFill>
                <a:latin typeface="Segoe UI"/>
              </a:defRPr>
            </a:pPr>
            <a:r>
              <a:t>Model Footprint &amp; Memory Efficiency</a:t>
            </a:r>
          </a:p>
          <a:p>
            <a:pPr>
              <a:lnSpc>
                <a:spcPct val="110000"/>
              </a:lnSpc>
              <a:defRPr sz="1100">
                <a:solidFill>
                  <a:srgbClr val="F0F6FC"/>
                </a:solidFill>
                <a:latin typeface="Segoe UI"/>
              </a:defRPr>
            </a:pPr>
            <a:r>
              <a:t>• Parameter Count: 36,710 parameters (98% smaller than baseline U-Net).</a:t>
            </a:r>
            <a:br/>
            <a:r>
              <a:t>• Checkpoint Size: 169.7 KB on disk (models/best_model.pt).</a:t>
            </a:r>
            <a:br/>
            <a:r>
              <a:t>• VRAM Usage: &lt; 2.8 GB during training; &lt; 500 MB during inference batching.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69080"/>
            <a:ext cx="5175504" cy="22402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3FB950"/>
                </a:solidFill>
                <a:latin typeface="Segoe UI"/>
              </a:defRPr>
            </a:pPr>
            <a:r>
              <a:t>Inference Profile &amp; H100 Benchmarking</a:t>
            </a:r>
          </a:p>
          <a:p>
            <a:pPr>
              <a:lnSpc>
                <a:spcPct val="110000"/>
              </a:lnSpc>
              <a:defRPr sz="1100">
                <a:solidFill>
                  <a:srgbClr val="F0F6FC"/>
                </a:solidFill>
                <a:latin typeface="Segoe UI"/>
              </a:defRPr>
            </a:pPr>
            <a:r>
              <a:t>• Laptop GPU (RTX 5050): 14.95 ms per batch of 2 under FP16 mixed precision.</a:t>
            </a:r>
            <a:br/>
            <a:r>
              <a:t>• Datacenter H100 Projection: &lt; 3.0 ms per batch; &gt; 600 images/sec throughput.</a:t>
            </a:r>
            <a:br/>
            <a:r>
              <a:t>• Benchmarking Readiness: Fast I/O batching and tensor transfers optimized.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4069080"/>
            <a:ext cx="5175504" cy="22402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F0F6FC"/>
                </a:solidFill>
                <a:latin typeface="Segoe UI"/>
              </a:defRPr>
            </a:pPr>
            <a:r>
              <a:t>ONNX Runtime &amp; Edge Deployment</a:t>
            </a:r>
          </a:p>
          <a:p>
            <a:pPr>
              <a:lnSpc>
                <a:spcPct val="110000"/>
              </a:lnSpc>
              <a:defRPr sz="1100">
                <a:solidFill>
                  <a:srgbClr val="F0F6FC"/>
                </a:solidFill>
                <a:latin typeface="Segoe UI"/>
              </a:defRPr>
            </a:pPr>
            <a:r>
              <a:t>• Portability: Exported and verified to model.onnx (430 KB).</a:t>
            </a:r>
            <a:br/>
            <a:r>
              <a:t>• Structural Integrity: 100% passed onnx.checker validation.</a:t>
            </a:r>
            <a:br/>
            <a:r>
              <a:t>• Cross-Platform: Drop-in deployment for TensorRT, OpenVINO, and C++ runtimes.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Segoe UI"/>
              </a:defRPr>
            </a:pPr>
            <a:r>
              <a:t>KLA AI HACKATHON 2026 | PROBLEM STATEMENT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0F6FC"/>
                </a:solidFill>
                <a:latin typeface="Segoe UI"/>
              </a:defRPr>
            </a:pPr>
            <a:r>
              <a:t>Deliverables Package &amp; Verification 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47548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1200"/>
              </a:spcAft>
              <a:defRPr sz="1400" b="1">
                <a:solidFill>
                  <a:srgbClr val="00F5D4"/>
                </a:solidFill>
                <a:latin typeface="Segoe UI"/>
              </a:defRPr>
            </a:pPr>
            <a:r>
              <a:t>OFFICIAL SUBMISSION REPOSITORY</a:t>
            </a:r>
          </a:p>
          <a:p>
            <a:pPr>
              <a:spcAft>
                <a:spcPts val="600"/>
              </a:spcAft>
              <a:defRPr sz="1100">
                <a:solidFill>
                  <a:srgbClr val="F0F6FC"/>
                </a:solidFill>
                <a:latin typeface="Segoe UI"/>
              </a:defRPr>
            </a:pPr>
            <a:r>
              <a:t>• Public GitHub Repository URL:</a:t>
            </a:r>
            <a:br/>
            <a:r>
              <a:t>  https://github.com/ANSHKATIYARAK/semiconductor-hackathon.git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F0F6FC"/>
                </a:solidFill>
                <a:latin typeface="Segoe UI"/>
              </a:defRPr>
            </a:pPr>
            <a:r>
              <a:t>• Public Model Checkpoint Weights (models/best_model.pt):</a:t>
            </a:r>
            <a:br/>
            <a:r>
              <a:t>  Public Google Drive link pinned in repository README.md (Permissions: Anyone with link can view).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F0F6FC"/>
                </a:solidFill>
                <a:latin typeface="Segoe UI"/>
              </a:defRPr>
            </a:pPr>
            <a:r>
              <a:t>• Submission Pitch Deck:</a:t>
            </a:r>
            <a:br/>
            <a:r>
              <a:t>  PixelPioneers_KLA_PS01.pdf (8 Slides strictly matching official template).</a:t>
            </a:r>
          </a:p>
          <a:p>
            <a:br/>
            <a:pPr>
              <a:spcAft>
                <a:spcPts val="600"/>
              </a:spcAft>
              <a:defRPr sz="1100">
                <a:solidFill>
                  <a:srgbClr val="F0F6FC"/>
                </a:solidFill>
                <a:latin typeface="Segoe UI"/>
              </a:defRPr>
            </a:pPr>
            <a:r>
              <a:t>• i4c Technical Check compliance:</a:t>
            </a:r>
            <a:br/>
            <a:r>
              <a:t>  Modified entry point to run.py and weights to models/best_model.pt.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496" y="1554480"/>
            <a:ext cx="5175504" cy="47548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1200"/>
              </a:spcAft>
              <a:defRPr sz="1400" b="1">
                <a:solidFill>
                  <a:srgbClr val="3FB950"/>
                </a:solidFill>
                <a:latin typeface="Segoe UI"/>
              </a:defRPr>
            </a:pPr>
            <a:r>
              <a:t>VERIFIED ARTIFACTS INVENTORY</a:t>
            </a:r>
          </a:p>
          <a:p>
            <a:pPr>
              <a:spcAft>
                <a:spcPts val="400"/>
              </a:spcAft>
              <a:defRPr sz="1100">
                <a:solidFill>
                  <a:srgbClr val="F0F6FC"/>
                </a:solidFill>
                <a:latin typeface="Segoe UI"/>
              </a:defRPr>
            </a:pPr>
            <a:r>
              <a:t>[✓] Standalone Evaluation CLI (run.py): Dynamic CLI flags, auto-fallback, zero crash.</a:t>
            </a:r>
          </a:p>
          <a:p>
            <a:br/>
            <a:pPr>
              <a:spcAft>
                <a:spcPts val="400"/>
              </a:spcAft>
              <a:defRPr sz="1100">
                <a:solidFill>
                  <a:srgbClr val="F0F6FC"/>
                </a:solidFill>
                <a:latin typeface="Segoe UI"/>
              </a:defRPr>
            </a:pPr>
            <a:r>
              <a:t>[✓] Modular Model Architecture (models/model.py): Complete unrolled HQS pipeline schema.</a:t>
            </a:r>
          </a:p>
          <a:p>
            <a:br/>
            <a:pPr>
              <a:spcAft>
                <a:spcPts val="400"/>
              </a:spcAft>
              <a:defRPr sz="1100">
                <a:solidFill>
                  <a:srgbClr val="F0F6FC"/>
                </a:solidFill>
                <a:latin typeface="Segoe UI"/>
              </a:defRPr>
            </a:pPr>
            <a:r>
              <a:t>[✓] Restored Test Predictions (test_predictions/): 400 shape-correct (256x256) .npy files bounded in [0.0, 1.0].</a:t>
            </a:r>
          </a:p>
          <a:p>
            <a:br/>
            <a:pPr>
              <a:spcAft>
                <a:spcPts val="400"/>
              </a:spcAft>
              <a:defRPr sz="1100">
                <a:solidFill>
                  <a:srgbClr val="F0F6FC"/>
                </a:solidFill>
                <a:latin typeface="Segoe UI"/>
              </a:defRPr>
            </a:pPr>
            <a:r>
              <a:t>[✓] ONNX Model Export (models/model.onnx): Validated via onnx.checker (430 KB).</a:t>
            </a:r>
          </a:p>
          <a:p>
            <a:br/>
            <a:pPr>
              <a:spcAft>
                <a:spcPts val="400"/>
              </a:spcAft>
              <a:defRPr sz="1100">
                <a:solidFill>
                  <a:srgbClr val="F0F6FC"/>
                </a:solidFill>
                <a:latin typeface="Segoe UI"/>
              </a:defRPr>
            </a:pPr>
            <a:r>
              <a:t>[✓] Environment Specification (requirements.txt): Clean, pinned pip freeze output.</a:t>
            </a:r>
          </a:p>
          <a:p>
            <a:br/>
            <a:pPr>
              <a:spcAft>
                <a:spcPts val="400"/>
              </a:spcAft>
              <a:defRPr sz="1100">
                <a:solidFill>
                  <a:srgbClr val="F0F6FC"/>
                </a:solidFill>
                <a:latin typeface="Segoe UI"/>
              </a:defRPr>
            </a:pPr>
            <a:r>
              <a:t>[✓] Benchmark Reports: docs/final_report.md and docs/walkthrough.md.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