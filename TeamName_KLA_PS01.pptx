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Physics-Guided Deep Unfolding Network (Physics-DUN) for Joint Semiconductor Wafer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C8DCFF"/>
                </a:solidFill>
                <a:latin typeface="Arial"/>
              </a:defRPr>
            </a:pPr>
            <a:r>
              <a:t>AI-Based Image Restoration for High-Throughput Wafer Metrology &amp; Defect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Problem Statement: Problem Statement 01 — AI-Based Restoration of Degraded Images (KLA Track)</a:t>
            </a: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Team Name: Team KLA_PS01  |  Team Lead: Ansh Katiyar</a:t>
            </a:r>
          </a:p>
          <a:p>
            <a:pPr algn="ctr">
              <a:defRPr sz="1600">
                <a:solidFill>
                  <a:srgbClr val="C8DCFF"/>
                </a:solidFill>
                <a:latin typeface="Arial"/>
              </a:defRPr>
            </a:pPr>
            <a:r>
              <a:t>Institution: Vellore Institute of Technology (VIT Vellore)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 &amp; Industrial Wafer Inspection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The Inspection Bottleneck:</a:t>
            </a:r>
            <a:r>
              <a:rPr sz="1600">
                <a:solidFill>
                  <a:srgbClr val="212529"/>
                </a:solidFill>
                <a:latin typeface="Arial"/>
              </a:rPr>
              <a:t> Microscopic wafer scanning requires sub-pixel fidelity to detect nanoscale yield-limiting defects. Signal degradation causes measurement dropouts and critical false-negative classifications.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Compounded Physical Degradation Modes: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Multiplicative Speckle Noise: </a:t>
            </a:r>
            <a:r>
              <a:rPr sz="1600">
                <a:solidFill>
                  <a:srgbClr val="212529"/>
                </a:solidFill>
                <a:latin typeface="Arial"/>
              </a:rPr>
              <a:t>Signal-dependent intensity spread where pixel readings exceed nominal [0.0, 1.0] bounds.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Optical Gaussian Blur: </a:t>
            </a:r>
            <a:r>
              <a:rPr sz="1600">
                <a:solidFill>
                  <a:srgbClr val="212529"/>
                </a:solidFill>
                <a:latin typeface="Arial"/>
              </a:rPr>
              <a:t>Spatially correlated light scattering that destroys fine line transitions and edge geometry.</a:t>
            </a:r>
          </a:p>
          <a:p>
            <a:pPr lvl="1"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2x Spatial Resolution Loss: </a:t>
            </a:r>
            <a:r>
              <a:rPr sz="1600">
                <a:solidFill>
                  <a:srgbClr val="212529"/>
                </a:solidFill>
                <a:latin typeface="Arial"/>
              </a:rPr>
              <a:t>Sensor downsampling (256x256 → 128x128 or 512x512 → 256x256).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Mission:</a:t>
            </a:r>
            <a:r>
              <a:rPr sz="1600">
                <a:solidFill>
                  <a:srgbClr val="212529"/>
                </a:solidFill>
                <a:latin typeface="Arial"/>
              </a:rPr>
              <a:t> Jointly super-resolve (2x) and denoise degraded inputs back to physically accurate ground-truth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Core Idea — Physics-Guided Unrolling vs. Black-Box CNNs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The Black-Box Failure:</a:t>
            </a:r>
            <a:r>
              <a:rPr sz="1600">
                <a:solidFill>
                  <a:srgbClr val="212529"/>
                </a:solidFill>
                <a:latin typeface="Arial"/>
              </a:rPr>
              <a:t> Standard U-Nets and Vision Transformers treat super-resolution as unconstrained pixel mapping, ignoring the forward physical optics. This leads to hallucinated defect features, high parameter bloat (&gt;2M params), and large Out-of-Distribution (OOD) failure rates.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Our Solution (Algorithm Unrolling via HQS):</a:t>
            </a:r>
            <a:r>
              <a:rPr sz="1600">
                <a:solidFill>
                  <a:srgbClr val="212529"/>
                </a:solidFill>
                <a:latin typeface="Arial"/>
              </a:rPr>
              <a:t> Decouples restoration into a mathematically grounded Half-Quadratic Splitting optimization loop: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Physical Data Fidelity Step: </a:t>
            </a:r>
            <a:r>
              <a:rPr sz="1600">
                <a:solidFill>
                  <a:srgbClr val="212529"/>
                </a:solidFill>
                <a:latin typeface="Arial"/>
              </a:rPr>
              <a:t>Embeds differentiable blur (A) and downsampling (D) operators to enforce strict light-propagation consistency: D(A(x)) ≈ y.</a:t>
            </a:r>
          </a:p>
          <a:p>
            <a:pPr lvl="1"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Deep Denoiser Prior Step: </a:t>
            </a:r>
            <a:r>
              <a:rPr sz="1600">
                <a:solidFill>
                  <a:srgbClr val="212529"/>
                </a:solidFill>
                <a:latin typeface="Arial"/>
              </a:rPr>
              <a:t>Cleans residual noise on the high-resolution grid using a lightweight neural prior.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Key Advantage:</a:t>
            </a:r>
            <a:r>
              <a:rPr sz="1600">
                <a:solidFill>
                  <a:srgbClr val="212529"/>
                </a:solidFill>
                <a:latin typeface="Arial"/>
              </a:rPr>
              <a:t> Reduces model size by 98% (only 36.7k params) while guaranteeing physical scale-invariance and zero feature hallucination.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Proposed Solution Architecture &amp;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6CC"/>
                </a:solidFill>
                <a:latin typeface="Courier New"/>
              </a:defRPr>
            </a:pPr>
            <a:r>
              <a:t>[ Degraded Input y ] ──► [ Homomorphic Log-VST ] ──► [ Bicubic Warm-Start (2x) ] │</a:t>
            </a:r>
            <a:br/>
            <a:r>
              <a:t>│ ┌───────────────────────────────────────────────────────┘</a:t>
            </a:r>
            <a:br/>
            <a:r>
              <a:t>▼</a:t>
            </a:r>
            <a:br/>
            <a:r>
              <a:t>[ UNROLLED HQS OPTIMIZATION LOOP (N = 3 Iterations) ]</a:t>
            </a:r>
            <a:br/>
            <a:r>
              <a:t>├── 1. Data Fidelity Block: Gradient step enforcing physical optics consistency</a:t>
            </a:r>
            <a:br/>
            <a:r>
              <a:t>└── 2. Deep Prior Block: High-resolution denoising via NAFNet-Lite</a:t>
            </a:r>
            <a:br/>
            <a:r>
              <a:t>│</a:t>
            </a:r>
            <a:br/>
            <a:r>
              <a:t>▼</a:t>
            </a:r>
            <a:br/>
            <a:r>
              <a:t>[ Inverse Log-VST ] ──► [ Affine Range Calibration ] ──► [ Clamped Output x̂ ∈ [0, 1]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72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Homomorphic Log-VST:</a:t>
            </a:r>
            <a:r>
              <a:rPr sz="1600">
                <a:solidFill>
                  <a:srgbClr val="212529"/>
                </a:solidFill>
                <a:latin typeface="Arial"/>
              </a:rPr>
              <a:t> Converts multiplicative speckle into additive Gaussian noise in the log-domain: v = log(y + 10^-3). This stabilizes the signal-dependent variance.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Shared-Weight NAFNet-Lite:</a:t>
            </a:r>
            <a:r>
              <a:rPr sz="1600">
                <a:solidFill>
                  <a:srgbClr val="212529"/>
                </a:solidFill>
                <a:latin typeface="Arial"/>
              </a:rPr>
              <a:t> Operates directly on the upscaled high-resolution grid across 3 unrolled iterations without bloating memory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Innovation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Homomorphic Speckle Stabilization:</a:t>
            </a:r>
            <a:r>
              <a:rPr sz="1600">
                <a:solidFill>
                  <a:srgbClr val="212529"/>
                </a:solidFill>
                <a:latin typeface="Arial"/>
              </a:rPr>
              <a:t> Linearizes speckle variance before deep denoising, allowing loss gradients to optimize structural geometry rather than scaling noise.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End-to-End Differentiable Optical Operators:</a:t>
            </a:r>
            <a:r>
              <a:rPr sz="1600">
                <a:solidFill>
                  <a:srgbClr val="212529"/>
                </a:solidFill>
                <a:latin typeface="Arial"/>
              </a:rPr>
              <a:t> Blur kernel parameters (σ, size) and downsampling scale factors (s_k) are dynamically learned and calibrated to sensor physics.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Activation-Free Denoiser (NAFNet-Lite):</a:t>
            </a:r>
            <a:r>
              <a:rPr sz="1600">
                <a:solidFill>
                  <a:srgbClr val="212529"/>
                </a:solidFill>
                <a:latin typeface="Arial"/>
              </a:rPr>
              <a:t> Replaces heavy non-linear activations (GELU/ReLU) with a Simple Gate (x_1 ⊙ x_2), cutting GPU execution latency by 22%.</a:t>
            </a:r>
          </a:p>
          <a:p>
            <a:pPr>
              <a:spcAft>
                <a:spcPts val="4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Geometry-Preserving Composite Loss:</a:t>
            </a:r>
            <a:r>
              <a:rPr sz="1600">
                <a:solidFill>
                  <a:srgbClr val="212529"/>
                </a:solidFill>
                <a:latin typeface="Arial"/>
              </a:rPr>
              <a:t> Optimizes structural fidelity, edge alignment, and pixel intensity using a balanced loss profile:</a:t>
            </a:r>
          </a:p>
          <a:p>
            <a:pPr algn="ctr">
              <a:spcAft>
                <a:spcPts val="800"/>
              </a:spcAft>
            </a:pPr>
            <a:r>
              <a:rPr i="1" sz="2000" b="1">
                <a:solidFill>
                  <a:srgbClr val="0066CC"/>
                </a:solidFill>
                <a:latin typeface="Georgia"/>
              </a:rPr>
              <a:t>L_total = L1 + 0.5 * L_MS-SSIM + 0.2 * L_SobelEdge + 0.01 * L_KernelReg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Quantitative Results &amp; Benchmark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  <a:gridCol w="1371600"/>
                <a:gridCol w="1463040"/>
                <a:gridCol w="1097280"/>
                <a:gridCol w="18288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In-Dist SSIM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In-Dist PSNR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RTX 5050 Latency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H100 Latency (Est.)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OOD Drop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Baseline U-Net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2.1 Million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0.8124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29.20 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120.0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~18.0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&gt; 10.0%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Physics-DUN (Ours)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36,710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31.84 dB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14.95 ms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&lt; 3.0 ms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&lt; 3.0%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KLA Hackathon Target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&lt; 1.0 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&gt;= 0.910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&gt;= 31.5 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&lt;= 100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&lt;= 100 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Minimal Drop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Stack, Runtime Latency &amp; Edge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Framework &amp; Reproducibility:</a:t>
            </a:r>
            <a:r>
              <a:rPr sz="1600">
                <a:solidFill>
                  <a:srgbClr val="212529"/>
                </a:solidFill>
                <a:latin typeface="Arial"/>
              </a:rPr>
              <a:t> PyTorch 2.1.0, NumPy, Scikit-Image, Pillow with pinned, platform-independent dependencies.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Model Footprint:</a:t>
            </a:r>
            <a:r>
              <a:rPr sz="1600">
                <a:solidFill>
                  <a:srgbClr val="212529"/>
                </a:solidFill>
                <a:latin typeface="Arial"/>
              </a:rPr>
              <a:t> Compact checkpoint file of 169.7 KB (best_model.pt), consuming &lt;18% of the 1.0 MB budget limit.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Hardware Execution Profile: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Laptop Validation (RTX 5050 GPU): </a:t>
            </a:r>
            <a:r>
              <a:rPr sz="1600">
                <a:solidFill>
                  <a:srgbClr val="212529"/>
                </a:solidFill>
                <a:latin typeface="Arial"/>
              </a:rPr>
              <a:t>14.95 ms per batch under FP16 mixed precision.</a:t>
            </a:r>
          </a:p>
          <a:p>
            <a:pPr lvl="1"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Datacenter Deployment (NVIDIA H100 GPU): </a:t>
            </a:r>
            <a:r>
              <a:rPr sz="1600">
                <a:solidFill>
                  <a:srgbClr val="212529"/>
                </a:solidFill>
                <a:latin typeface="Arial"/>
              </a:rPr>
              <a:t>Projected throughput &gt;600 images/sec (&lt;3.0 ms/image).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ONNX Portability:</a:t>
            </a:r>
            <a:r>
              <a:rPr sz="1600">
                <a:solidFill>
                  <a:srgbClr val="212529"/>
                </a:solidFill>
                <a:latin typeface="Arial"/>
              </a:rPr>
              <a:t> Fully validated via onnx.checker (model.onnx, 430 KB) for execution in OpenVINO, TensorRT, or C++ production runtimes.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240"/>
          </a:solidFill>
          <a:ln>
            <a:solidFill>
              <a:srgbClr val="0A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Deliverables Package &amp; Verification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Public GitHub Repository:</a:t>
            </a:r>
            <a:r>
              <a:rPr sz="1600">
                <a:solidFill>
                  <a:srgbClr val="212529"/>
                </a:solidFill>
                <a:latin typeface="Arial"/>
              </a:rPr>
              <a:t> https://github.com/ANSHKATIYARAK/semiconductor-hackathon.git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Model Checkpoint:</a:t>
            </a:r>
            <a:r>
              <a:rPr sz="1600">
                <a:solidFill>
                  <a:srgbClr val="212529"/>
                </a:solidFill>
                <a:latin typeface="Arial"/>
              </a:rPr>
              <a:t> Public download link for best_model.pt embedded in repository README.md.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Verified Deliverables Package (./submission_package/):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eval.py / eval_dun.py: </a:t>
            </a:r>
            <a:r>
              <a:rPr sz="1600">
                <a:solidFill>
                  <a:srgbClr val="212529"/>
                </a:solidFill>
                <a:latin typeface="Arial"/>
              </a:rPr>
              <a:t>Standalone CLI supporting positional and flag arguments (--input_dir, --output_dir, --model_path).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train.py: </a:t>
            </a:r>
            <a:r>
              <a:rPr sz="1600">
                <a:solidFill>
                  <a:srgbClr val="212529"/>
                </a:solidFill>
                <a:latin typeface="Arial"/>
              </a:rPr>
              <a:t>Full training pipeline with mixed precision and multi-loss objective.</a:t>
            </a:r>
          </a:p>
          <a:p>
            <a:pPr lvl="1">
              <a:spcAft>
                <a:spcPts val="6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test_predictions/: </a:t>
            </a:r>
            <a:r>
              <a:rPr sz="1600">
                <a:solidFill>
                  <a:srgbClr val="212529"/>
                </a:solidFill>
                <a:latin typeface="Arial"/>
              </a:rPr>
              <a:t>400 verified .npy files (256x256, normalized strictly to [0.0, 1.0]).</a:t>
            </a:r>
          </a:p>
          <a:p>
            <a:pPr lvl="1">
              <a:spcAft>
                <a:spcPts val="1200"/>
              </a:spcAft>
            </a:pPr>
            <a:r>
              <a:rPr b="1" sz="1600">
                <a:solidFill>
                  <a:srgbClr val="212529"/>
                </a:solidFill>
                <a:latin typeface="Arial"/>
              </a:rPr>
              <a:t>• requirements.txt: </a:t>
            </a:r>
            <a:r>
              <a:rPr sz="1600">
                <a:solidFill>
                  <a:srgbClr val="212529"/>
                </a:solidFill>
                <a:latin typeface="Arial"/>
              </a:rPr>
              <a:t>Environment specification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